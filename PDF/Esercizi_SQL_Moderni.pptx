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1" r:id="rId5"/>
    <p:sldId id="2562" r:id="rId6"/>
    <p:sldId id="2563" r:id="rId7"/>
    <p:sldId id="2564" r:id="rId8"/>
    <p:sldId id="2565" r:id="rId9"/>
    <p:sldId id="2566" r:id="rId10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🧩 7️⃣ Esercizi Pratici SQL" id="{B492646A-F35E-41A9-8580-93FFFD1C793A}">
          <p14:sldIdLst>
            <p14:sldId id="2561"/>
          </p14:sldIdLst>
        </p14:section>
        <p14:section name="Esercizi SQL con immagini" id="{E982E2A4-A08F-4516-9A4B-5809CB10E10C}">
          <p14:sldIdLst>
            <p14:sldId id="2562"/>
            <p14:sldId id="2563"/>
            <p14:sldId id="2564"/>
            <p14:sldId id="2565"/>
            <p14:sldId id="25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presProps" Target="presProp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15" Type="http://schemas.openxmlformats.org/officeDocument/2006/relationships/theme" Target="theme/theme1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5D1EC30-5B0B-48D0-A1A8-66A96720DF2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B8FBFCE-2205-4B9C-81E5-532E0690D8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F68A4D-42A7-45F7-9930-00E8DCB48D7E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FDD6F49-EBB7-4CCF-97A8-E526BB28BB6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 contenuto generato dall'IA potrebbe non essere corretto.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74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Trova gli studenti con voto superiore alla media del corso, Mostra corsi con più di 5 iscrizioni e media ≥ 27, Crea colonna 'Promosso/Respinto' in base al voto ≥ 18, Elenca corsi con 'Data' nel nome e almeno un voto massimo di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26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Questo esercizio richiede agli studenti di scrivere una query SQL che identifichi tutti gli studenti il cui voto è superiore alla media del corso a cui appartengono. Per risolverlo, è necessario utilizzare funzioni di aggregazione come AVG() per calcolare la media dei voti per ciascun corso, e poi confrontare ogni voto individuale con la media corrispondente. Questo tipo di esercizio aiuta a comprendere l'uso delle subquery correlate, che permettono di calcolare la media all'interno della stessa tabella e confrontarla con i dati riga per riga. Inoltre, è utile per rafforzare la comprensione delle clausole WHERE e GROUP BY, fondamentali per filtrare e raggruppare i dati in modo efficace. L'immagine associata rappresenta un grafico a barre che mostra il confronto tra voti individuali e la media del corso, facilitando la visualizzazione del concetto.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38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In questo esercizio, gli studenti devono individuare i corsi che soddisfano due condizioni: avere più di cinque iscritti e una media dei voti maggiore o uguale a 27. Per risolverlo, è necessario utilizzare le funzioni COUNT() per contare il numero di iscrizioni per corso e AVG() per calcolare la media dei voti. La clausola HAVING è fondamentale in questo contesto, poiché consente di filtrare i gruppi dopo l'applicazione di GROUP BY. Questo esercizio è utile per comprendere come combinare più condizioni di filtro su dati aggregati e come strutturare query complesse in modo leggibile. L'immagine associata mostra un'aula universitaria con studenti e un grafico che evidenzia i corsi con alte performance, rendendo il concetto più intuitivo.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9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Questo esercizio richiede agli studenti di aggiungere una colonna calcolata alla query che indichi se uno studente è stato promosso o respinto, in base al criterio che un voto pari o superiore a 18 è considerato sufficiente. Per implementarlo, si utilizza l'istruzione CASE WHEN, che consente di creare condizioni logiche all'interno della SELECT. Questo tipo di esercizio è utile per comprendere come arricchire i risultati delle query con informazioni derivate, migliorando la leggibilità e l'usabilità dei dati. Inoltre, aiuta a familiarizzare con la logica condizionale in SQL, che è essenziale per la creazione di report e dashboard. L'immagine associata mostra un segno di spunta verde per i promossi e una croce rossa per i respinti, rendendo visivamente chiaro il risultato della condizione.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2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In questo esercizio, gli studenti devono scrivere una query che elenchi tutti i corsi il cui nome contiene la parola 'Data' e che abbiano almeno uno studente con voto massimo pari a 30. Per risolverlo, è necessario utilizzare la clausola LIKE per filtrare i nomi dei corsi e la funzione MAX() per identificare il voto massimo per ciascun corso. Inoltre, si può utilizzare una subquery o una clausola HAVING per assicurarsi che il voto massimo sia almeno 30. Questo esercizio è utile per comprendere l'uso delle funzioni di stringa e di aggregazione, nonché per rafforzare la capacità di combinare più condizioni in una query. L'immagine associata mostra un libro aperto con la scritta 'Data Science' e un trofeo che rappresenta il voto massimo, rendendo il concetto più coinvolgente per gli studenti.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9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ol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 userDrawn="1"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 userDrawn="1"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 userDrawn="1"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 userDrawn="1"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 userDrawn="1"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 userDrawn="1"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rtlCol="0" anchor="b">
            <a:normAutofit/>
          </a:bodyPr>
          <a:lstStyle>
            <a:lvl1pPr algn="l"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 cap="all" spc="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ol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tangolo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 userDrawn="1"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 userDrawn="1"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 userDrawn="1"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 userDrawn="1"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rtlCol="0" anchor="t">
            <a:normAutofit/>
          </a:bodyPr>
          <a:lstStyle>
            <a:lvl1pPr algn="l">
              <a:lnSpc>
                <a:spcPct val="110000"/>
              </a:lnSpc>
              <a:defRPr sz="4800" cap="all" spc="5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 cap="all" spc="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ol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 userDrawn="1"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 userDrawn="1"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 userDrawn="1"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Forma libera: Forma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 userDrawn="1"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272" y="585216"/>
            <a:ext cx="6556248" cy="3200400"/>
          </a:xfrm>
        </p:spPr>
        <p:txBody>
          <a:bodyPr rtlCol="0" anchor="b">
            <a:normAutofit/>
          </a:bodyPr>
          <a:lstStyle>
            <a:lvl1pPr algn="l">
              <a:lnSpc>
                <a:spcPct val="110000"/>
              </a:lnSpc>
              <a:defRPr sz="4800" cap="all" spc="5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 cap="all" spc="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18" name="Segnaposto piè di pagina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7" name="Segnaposto data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19" name="Segnaposto numero diapositiva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 userDrawn="1"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 userDrawn="1"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igura a mano libera: Forma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 userDrawn="1"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 userDrawn="1"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rtlCol="0" anchor="b">
            <a:noAutofit/>
          </a:bodyPr>
          <a:lstStyle>
            <a:lvl1pPr algn="l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17" name="Segnaposto immagine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19" name="Segnaposto piè di pagina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8" name="Segnaposto data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 userDrawn="1"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 userDrawn="1"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 userDrawn="1"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 userDrawn="1"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rtlCol="0" anchor="b">
            <a:normAutofit/>
          </a:bodyPr>
          <a:lstStyle>
            <a:lvl1pPr algn="l">
              <a:lnSpc>
                <a:spcPct val="110000"/>
              </a:lnSpc>
              <a:defRPr sz="36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 cap="all" spc="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20" name="Segnaposto immagine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 userDrawn="1"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 userDrawn="1"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 userDrawn="1"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 userDrawn="1"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rtlCol="0" anchor="b">
            <a:normAutofit/>
          </a:bodyPr>
          <a:lstStyle>
            <a:lvl1pPr algn="l">
              <a:lnSpc>
                <a:spcPct val="110000"/>
              </a:lnSpc>
              <a:defRPr sz="36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 cap="all" spc="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  <p:sp>
        <p:nvSpPr>
          <p:cNvPr id="20" name="Segnaposto immagine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264355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 userDrawn="1"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 userDrawn="1"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Figura a mano libera: Forma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 userDrawn="1"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rtlCol="0" anchor="t">
            <a:normAutofit/>
          </a:bodyPr>
          <a:lstStyle>
            <a:lvl1pPr algn="l">
              <a:lnSpc>
                <a:spcPct val="110000"/>
              </a:lnSpc>
              <a:defRPr sz="32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"/>
              <a:t>Fare clic per modificare lo stile del sottotitolo dello schema</a:t>
            </a:r>
            <a:endParaRPr lang="en-US"/>
          </a:p>
        </p:txBody>
      </p:sp>
      <p:sp>
        <p:nvSpPr>
          <p:cNvPr id="18" name="Segnaposto piè di pagina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9" name="Segnaposto numero diapositiva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  <p:sp>
        <p:nvSpPr>
          <p:cNvPr id="17" name="Segnaposto data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280157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 userDrawn="1"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 userDrawn="1"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 userDrawn="1"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 userDrawn="1"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 userDrawn="1"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 userDrawn="1"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rtlCol="0" anchor="t">
            <a:no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84145AC3-CC88-4C8A-A6CE-8D44921B6A23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della sezion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 userDrawn="1"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 userDrawn="1"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 userDrawn="1"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 userDrawn="1"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 userDrawn="1"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 userDrawn="1"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rtlCol="0" anchor="b">
            <a:no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84145AC3-CC88-4C8A-A6CE-8D44921B6A23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1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 userDrawn="1"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 userDrawn="1"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 userDrawn="1"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 userDrawn="1"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 userDrawn="1"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rtlCol="0" anchor="ctr">
            <a:no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438912" indent="-347472">
              <a:lnSpc>
                <a:spcPct val="130000"/>
              </a:lnSpc>
              <a:spcBef>
                <a:spcPts val="1000"/>
              </a:spcBef>
              <a:buFont typeface="+mj-lt"/>
              <a:buAutoNum type="arabicPeriod"/>
              <a:defRPr lang="en-US" b="0" cap="none" spc="0" baseline="0" dirty="0"/>
            </a:lvl1pPr>
            <a:lvl2pPr marL="438912" indent="-347472">
              <a:lnSpc>
                <a:spcPct val="130000"/>
              </a:lnSpc>
              <a:spcBef>
                <a:spcPts val="1000"/>
              </a:spcBef>
              <a:buFont typeface="+mj-lt"/>
              <a:buAutoNum type="arabicPeriod"/>
              <a:defRPr lang="en-US" b="1" cap="all" spc="400" baseline="0" dirty="0"/>
            </a:lvl2pPr>
            <a:lvl3pPr marL="438912" indent="-347472">
              <a:lnSpc>
                <a:spcPct val="130000"/>
              </a:lnSpc>
              <a:spcBef>
                <a:spcPts val="1000"/>
              </a:spcBef>
              <a:buFont typeface="+mj-lt"/>
              <a:buAutoNum type="arabicPeriod"/>
              <a:defRPr lang="en-US" b="1" cap="all" spc="400" baseline="0" dirty="0"/>
            </a:lvl3pPr>
            <a:lvl4pPr marL="438912" indent="-347472">
              <a:lnSpc>
                <a:spcPct val="130000"/>
              </a:lnSpc>
              <a:spcBef>
                <a:spcPts val="1000"/>
              </a:spcBef>
              <a:buFont typeface="+mj-lt"/>
              <a:buAutoNum type="arabicPeriod"/>
              <a:defRPr lang="en-US" b="1" cap="all" spc="400" baseline="0" dirty="0"/>
            </a:lvl4pPr>
            <a:lvl5pPr marL="438912" indent="-347472">
              <a:lnSpc>
                <a:spcPct val="130000"/>
              </a:lnSpc>
              <a:spcBef>
                <a:spcPts val="1000"/>
              </a:spcBef>
              <a:buFont typeface="+mj-lt"/>
              <a:buAutoNum type="arabicPeriod"/>
              <a:defRPr lang="en-US" b="1" cap="all" spc="400" baseline="0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 userDrawn="1"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 userDrawn="1"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rtlCol="0" anchor="t">
            <a:noAutofit/>
          </a:bodyPr>
          <a:lstStyle>
            <a:lvl1pPr>
              <a:defRPr sz="4000" cap="all" spc="700" baseline="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rtlCol="0"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200"/>
            </a:lvl4pPr>
            <a:lvl5pPr marL="1143000" indent="-228600">
              <a:buFont typeface="+mj-lt"/>
              <a:buAutoNum type="arabicPeriod"/>
              <a:defRPr sz="110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3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, contenuto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rtlCol="0" anchor="ctr">
            <a:normAutofit/>
          </a:bodyPr>
          <a:lstStyle>
            <a:lvl1pPr>
              <a:defRPr sz="24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468112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contenuto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DF79EBA-019D-E771-8953-67B53160FD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rtlCol="0" anchor="b">
            <a:normAutofit/>
          </a:bodyPr>
          <a:lstStyle>
            <a:lvl1pPr>
              <a:defRPr sz="24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, contenu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,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 userDrawn="1"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 userDrawn="1"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 userDrawn="1"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rtlCol="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rtlCol="0" anchor="ctr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1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200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5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o 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 userDrawn="1"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 userDrawn="1"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 userDrawn="1"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 userDrawn="1"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 userDrawn="1"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 userDrawn="1"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 userDrawn="1"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 userDrawn="1"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 userDrawn="1"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rtlCol="0" anchor="t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1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 userDrawn="1"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rtlCol="0" anchor="t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3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 userDrawn="1"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rtlCol="0" anchor="b"/>
          <a:lstStyle>
            <a:lvl1pPr algn="r">
              <a:defRPr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 userDrawn="1"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 userDrawn="1"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rtlCol="0" anchor="b"/>
          <a:lstStyle>
            <a:lvl1pPr algn="r">
              <a:defRPr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6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 userDrawn="1"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 userDrawn="1"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di testo a piè di pagina</a:t>
            </a:r>
            <a:endParaRPr lang="en-US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0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 userDrawn="1"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 userDrawn="1"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rtlCol="0" anchor="b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rtlCol="0" anchor="ctr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 userDrawn="1"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 userDrawn="1"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rtlCol="0" anchor="t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rtlCol="0" anchor="ctr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578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foto contenu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 userDrawn="1"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 userDrawn="1"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o gra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F8A6B7-2D8C-63A2-A927-9D15607390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36C547E4-090D-61A6-A70A-A7394C4B8BCC}"/>
              </a:ext>
            </a:extLst>
          </p:cNvPr>
          <p:cNvGrpSpPr/>
          <p:nvPr userDrawn="1"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D49E45A1-0191-47CB-E377-68C1AC0A2DE3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CDE34BC8-3326-BC2B-D01A-8C91C7395DCA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F2405019-1737-F9AB-BD9E-3F8D0085B51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7BFB3610-94F0-0922-79C5-70BCBF09EFE4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ttangolo 13">
            <a:extLst>
              <a:ext uri="{FF2B5EF4-FFF2-40B4-BE49-F238E27FC236}">
                <a16:creationId xmlns:a16="http://schemas.microsoft.com/office/drawing/2014/main" id="{1976F318-4116-0BC4-0865-8D81CAEF1747}"/>
              </a:ext>
            </a:extLst>
          </p:cNvPr>
          <p:cNvSpPr/>
          <p:nvPr userDrawn="1"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704" y="704088"/>
            <a:ext cx="10661904" cy="3849624"/>
          </a:xfrm>
        </p:spPr>
        <p:txBody>
          <a:bodyPr rtlCol="0">
            <a:normAutofit/>
          </a:bodyPr>
          <a:lstStyle>
            <a:lvl1pPr algn="ctr">
              <a:defRPr sz="2700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##%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704" y="4974336"/>
            <a:ext cx="10433304" cy="144475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800" cap="all" spc="300" baseline="0">
                <a:solidFill>
                  <a:schemeClr val="tx1"/>
                </a:solidFill>
              </a:defRPr>
            </a:lvl1pPr>
            <a:lvl2pPr marL="228600" indent="0" algn="ctr">
              <a:buNone/>
              <a:defRPr sz="2400" cap="all" spc="300" baseline="0">
                <a:solidFill>
                  <a:schemeClr val="tx1"/>
                </a:solidFill>
              </a:defRPr>
            </a:lvl2pPr>
            <a:lvl3pPr marL="457200" indent="0" algn="ctr">
              <a:buNone/>
              <a:defRPr sz="2000" cap="all" spc="300" baseline="0">
                <a:solidFill>
                  <a:schemeClr val="tx1"/>
                </a:solidFill>
              </a:defRPr>
            </a:lvl3pPr>
            <a:lvl4pPr marL="685800" indent="0" algn="ctr">
              <a:buNone/>
              <a:defRPr sz="1800" cap="all" spc="300" baseline="0">
                <a:solidFill>
                  <a:schemeClr val="tx1"/>
                </a:solidFill>
              </a:defRPr>
            </a:lvl4pPr>
            <a:lvl5pPr marL="914400" indent="0" algn="ctr">
              <a:buNone/>
              <a:defRPr sz="1600" cap="all" spc="300" baseline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23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o gran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>
            <a:extLst>
              <a:ext uri="{FF2B5EF4-FFF2-40B4-BE49-F238E27FC236}">
                <a16:creationId xmlns:a16="http://schemas.microsoft.com/office/drawing/2014/main" id="{5B8F4E7D-2CBF-7D3D-EC68-0BA269C501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0E65F67-D8BF-6B5A-60A6-74138D401C3E}"/>
              </a:ext>
            </a:extLst>
          </p:cNvPr>
          <p:cNvSpPr/>
          <p:nvPr userDrawn="1"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51885776-AA1C-A8E8-3C91-50C8678829BC}"/>
              </a:ext>
            </a:extLst>
          </p:cNvPr>
          <p:cNvSpPr/>
          <p:nvPr userDrawn="1"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E9D27DA-7C82-C0D5-B772-858188F46514}"/>
              </a:ext>
            </a:extLst>
          </p:cNvPr>
          <p:cNvSpPr/>
          <p:nvPr userDrawn="1"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568FA2C-1841-F047-F23F-3C0330C4F62E}"/>
              </a:ext>
            </a:extLst>
          </p:cNvPr>
          <p:cNvSpPr/>
          <p:nvPr userDrawn="1"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A7243A5-51CC-8BF1-A7F6-81D9B6FBFEE9}"/>
              </a:ext>
            </a:extLst>
          </p:cNvPr>
          <p:cNvSpPr/>
          <p:nvPr userDrawn="1"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603504"/>
            <a:ext cx="10543032" cy="4114800"/>
          </a:xfrm>
        </p:spPr>
        <p:txBody>
          <a:bodyPr rtlCol="0">
            <a:normAutofit/>
          </a:bodyPr>
          <a:lstStyle>
            <a:lvl1pPr algn="ctr">
              <a:defRPr sz="2500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##%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57400" y="4809744"/>
            <a:ext cx="8156448" cy="1545336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800" cap="all" spc="3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 sz="2400" cap="all" spc="300" baseline="0">
                <a:solidFill>
                  <a:schemeClr val="bg1"/>
                </a:solidFill>
              </a:defRPr>
            </a:lvl2pPr>
            <a:lvl3pPr marL="457200" indent="0" algn="ctr">
              <a:buNone/>
              <a:defRPr sz="2000" cap="all" spc="300" baseline="0">
                <a:solidFill>
                  <a:schemeClr val="bg1"/>
                </a:solidFill>
              </a:defRPr>
            </a:lvl3pPr>
            <a:lvl4pPr marL="685800" indent="0" algn="ctr">
              <a:buNone/>
              <a:defRPr sz="1800" cap="all" spc="300" baseline="0">
                <a:solidFill>
                  <a:schemeClr val="bg1"/>
                </a:solidFill>
              </a:defRPr>
            </a:lvl4pPr>
            <a:lvl5pPr marL="914400" indent="0" algn="ctr">
              <a:buNone/>
              <a:defRPr sz="1600" cap="all" spc="3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61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o gran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603504"/>
            <a:ext cx="10863072" cy="4206240"/>
          </a:xfrm>
        </p:spPr>
        <p:txBody>
          <a:bodyPr rtlCol="0"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pPr rtl="0"/>
            <a:r>
              <a:rPr lang="it"/>
              <a:t>##%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4809744"/>
            <a:ext cx="5897880" cy="1353312"/>
          </a:xfrm>
        </p:spPr>
        <p:txBody>
          <a:bodyPr rtlCol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tr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ttangolo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 userDrawn="1"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 userDrawn="1"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 userDrawn="1"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 userDrawn="1"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 rtl="0"/>
            <a:r>
              <a:rPr lang="it"/>
              <a:t>Fai clic per modificare l'istruzione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3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truzio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 userDrawn="1"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 userDrawn="1"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 userDrawn="1"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rtlCol="0" anchor="t">
            <a:no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 rtl="0"/>
            <a:r>
              <a:rPr lang="it"/>
              <a:t>Fai clic per modificare l'istruzione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82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e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9DFC56EE-453D-5604-2E61-F764A3FDA1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7E8987B-30CC-703A-B6CB-AB5A46C75EEE}"/>
              </a:ext>
            </a:extLst>
          </p:cNvPr>
          <p:cNvSpPr/>
          <p:nvPr userDrawn="1"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335B987-327A-F416-7CAE-DBC2ADFD14CC}"/>
              </a:ext>
            </a:extLst>
          </p:cNvPr>
          <p:cNvSpPr/>
          <p:nvPr userDrawn="1"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CC65A21-2227-80AA-BCC4-DA2AD5381941}"/>
              </a:ext>
            </a:extLst>
          </p:cNvPr>
          <p:cNvSpPr/>
          <p:nvPr userDrawn="1"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0824" y="1737360"/>
            <a:ext cx="8156448" cy="2569464"/>
          </a:xfrm>
        </p:spPr>
        <p:txBody>
          <a:bodyPr rtlCol="0" anchor="ctr">
            <a:normAutofit/>
          </a:bodyPr>
          <a:lstStyle>
            <a:lvl1pPr algn="ctr">
              <a:lnSpc>
                <a:spcPct val="110000"/>
              </a:lnSpc>
              <a:defRPr sz="3600" b="0" cap="none" spc="0" baseline="0"/>
            </a:lvl1pPr>
          </a:lstStyle>
          <a:p>
            <a:pPr rtl="0"/>
            <a:r>
              <a:rPr lang="it"/>
              <a:t>Fai clic per modificare l'offerta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020056"/>
            <a:ext cx="9198864" cy="649224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1" cap="all" spc="4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 sz="1400" b="1" cap="all" spc="400">
                <a:solidFill>
                  <a:schemeClr val="bg1"/>
                </a:solidFill>
              </a:defRPr>
            </a:lvl2pPr>
            <a:lvl3pPr marL="457200" indent="0" algn="ctr">
              <a:buNone/>
              <a:defRPr sz="1200" b="1" cap="all" spc="400">
                <a:solidFill>
                  <a:schemeClr val="bg1"/>
                </a:solidFill>
              </a:defRPr>
            </a:lvl3pPr>
            <a:lvl4pPr marL="685800" indent="0" algn="ctr">
              <a:buNone/>
              <a:defRPr sz="1100" b="1" cap="all" spc="400">
                <a:solidFill>
                  <a:schemeClr val="bg1"/>
                </a:solidFill>
              </a:defRPr>
            </a:lvl4pPr>
            <a:lvl5pPr marL="914400" indent="0" algn="ctr">
              <a:buNone/>
              <a:defRPr sz="1050" b="1" cap="all" spc="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"/>
              <a:t>Autore offerta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25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er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F96CF6D-CD12-544A-2FFA-9EA21D9207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8519C3D-ECDE-2787-3717-DA29A112F6F9}"/>
              </a:ext>
            </a:extLst>
          </p:cNvPr>
          <p:cNvSpPr/>
          <p:nvPr userDrawn="1"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EC3966D-F5E1-07D2-79E3-99BF7F5B5407}"/>
              </a:ext>
            </a:extLst>
          </p:cNvPr>
          <p:cNvSpPr/>
          <p:nvPr userDrawn="1"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53FF58-C1F8-FA09-074D-AB8E9FBA1FDD}"/>
              </a:ext>
            </a:extLst>
          </p:cNvPr>
          <p:cNvSpPr/>
          <p:nvPr userDrawn="1"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A190FAB-1CE4-606E-199A-287AA035D1DB}"/>
              </a:ext>
            </a:extLst>
          </p:cNvPr>
          <p:cNvSpPr/>
          <p:nvPr userDrawn="1"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1481328"/>
            <a:ext cx="8001000" cy="2752344"/>
          </a:xfrm>
        </p:spPr>
        <p:txBody>
          <a:bodyPr rtlCol="0" anchor="ctr">
            <a:normAutofit/>
          </a:bodyPr>
          <a:lstStyle>
            <a:lvl1pPr marL="128016" indent="-137160">
              <a:lnSpc>
                <a:spcPct val="110000"/>
              </a:lnSpc>
              <a:defRPr sz="3200" b="0" cap="none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Fai clic per modificare l'offerta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1262" y="4736592"/>
            <a:ext cx="8842248" cy="795528"/>
          </a:xfrm>
        </p:spPr>
        <p:txBody>
          <a:bodyPr rtlCol="0" anchor="ctr">
            <a:normAutofit/>
          </a:bodyPr>
          <a:lstStyle>
            <a:lvl1pPr marL="0" indent="0">
              <a:buNone/>
              <a:defRPr sz="22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>
              <a:buNone/>
              <a:defRPr sz="14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it"/>
              <a:t>Autore offerta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976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ert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7BA1F90E-DB4C-5EE4-753F-1A3C96013E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0A7D6A-F901-6FD5-62E6-38FBE76E0278}"/>
              </a:ext>
            </a:extLst>
          </p:cNvPr>
          <p:cNvSpPr/>
          <p:nvPr userDrawn="1"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FFF0D5C-853B-2749-E5BC-06E387EA5FC0}"/>
              </a:ext>
            </a:extLst>
          </p:cNvPr>
          <p:cNvSpPr/>
          <p:nvPr userDrawn="1"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5369D9-EA61-DE2F-90F2-D94E3501FA02}"/>
              </a:ext>
            </a:extLst>
          </p:cNvPr>
          <p:cNvSpPr/>
          <p:nvPr userDrawn="1"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7360" y="1399032"/>
            <a:ext cx="5751576" cy="4041648"/>
          </a:xfrm>
        </p:spPr>
        <p:txBody>
          <a:bodyPr rtlCol="0" anchor="ctr">
            <a:normAutofit/>
          </a:bodyPr>
          <a:lstStyle>
            <a:lvl1pPr marL="182880" indent="-182880">
              <a:lnSpc>
                <a:spcPct val="110000"/>
              </a:lnSpc>
              <a:defRPr sz="3600"/>
            </a:lvl1pPr>
          </a:lstStyle>
          <a:p>
            <a:pPr rtl="0"/>
            <a:r>
              <a:rPr lang="it"/>
              <a:t>Fai clic per modificare l'offerta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31352" y="1792224"/>
            <a:ext cx="2322576" cy="3465576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0" cap="all" spc="4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 sz="1400" b="0" cap="all" spc="400">
                <a:solidFill>
                  <a:schemeClr val="bg1"/>
                </a:solidFill>
              </a:defRPr>
            </a:lvl2pPr>
            <a:lvl3pPr marL="457200" indent="0" algn="ctr">
              <a:buNone/>
              <a:defRPr sz="1200" b="0" cap="all" spc="400">
                <a:solidFill>
                  <a:schemeClr val="bg1"/>
                </a:solidFill>
              </a:defRPr>
            </a:lvl3pPr>
            <a:lvl4pPr marL="685800" indent="0" algn="ctr">
              <a:buNone/>
              <a:defRPr sz="1100" b="0" cap="all" spc="400">
                <a:solidFill>
                  <a:schemeClr val="bg1"/>
                </a:solidFill>
              </a:defRPr>
            </a:lvl4pPr>
            <a:lvl5pPr marL="914400" indent="0" algn="ctr">
              <a:buNone/>
              <a:defRPr sz="1050" b="0" cap="all" spc="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"/>
              <a:t>Autore offerta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937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"/>
              <a:t>Fare clic per modificare lo stile del titolo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"/>
              <a:t>Fare clic per modificare lo stile del titolo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 rtlCol="0"/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"/>
              <a:t>Esempio testo a piè di pagina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"/>
              <a:t>Fare clic per modificare lo stile del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it"/>
              <a:t>Fare clic sull'icona per inserire un'immagine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Giovedì 20 febbraio 2025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ttangolo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 userDrawn="1"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 userDrawn="1"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 userDrawn="1"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Forma libera: Forma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 userDrawn="1"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601200" cy="1728216"/>
          </a:xfrm>
        </p:spPr>
        <p:txBody>
          <a:bodyPr rtlCol="0"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 userDrawn="1"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 userDrawn="1"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 userDrawn="1"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Forma libera: Forma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 userDrawn="1"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8741664" cy="1728216"/>
          </a:xfrm>
        </p:spPr>
        <p:txBody>
          <a:bodyPr rtlCol="0"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8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 userDrawn="1"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 userDrawn="1"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"/>
              <a:t>Fare clic per modificare lo stile del titolo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"/>
              <a:t>Esempio testo a piè di pagina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Giovedì 20 febbraio 2025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3" r:id="rId2"/>
    <p:sldLayoutId id="2147483784" r:id="rId3"/>
    <p:sldLayoutId id="2147483788" r:id="rId4"/>
    <p:sldLayoutId id="2147483789" r:id="rId5"/>
    <p:sldLayoutId id="2147483792" r:id="rId6"/>
    <p:sldLayoutId id="2147483785" r:id="rId7"/>
    <p:sldLayoutId id="2147483729" r:id="rId8"/>
    <p:sldLayoutId id="2147483810" r:id="rId9"/>
    <p:sldLayoutId id="2147483716" r:id="rId10"/>
    <p:sldLayoutId id="2147483841" r:id="rId11"/>
    <p:sldLayoutId id="2147483713" r:id="rId12"/>
    <p:sldLayoutId id="2147483732" r:id="rId13"/>
    <p:sldLayoutId id="2147483662" r:id="rId14"/>
    <p:sldLayoutId id="2147483794" r:id="rId15"/>
    <p:sldLayoutId id="2147483679" r:id="rId16"/>
    <p:sldLayoutId id="2147483680" r:id="rId17"/>
    <p:sldLayoutId id="2147483681" r:id="rId18"/>
    <p:sldLayoutId id="2147483778" r:id="rId19"/>
    <p:sldLayoutId id="2147483797" r:id="rId20"/>
    <p:sldLayoutId id="2147483690" r:id="rId21"/>
    <p:sldLayoutId id="2147483707" r:id="rId22"/>
    <p:sldLayoutId id="2147483708" r:id="rId23"/>
    <p:sldLayoutId id="2147483743" r:id="rId24"/>
    <p:sldLayoutId id="2147483694" r:id="rId25"/>
    <p:sldLayoutId id="2147483803" r:id="rId26"/>
    <p:sldLayoutId id="2147483824" r:id="rId27"/>
    <p:sldLayoutId id="2147483770" r:id="rId28"/>
    <p:sldLayoutId id="2147483801" r:id="rId29"/>
    <p:sldLayoutId id="2147483808" r:id="rId30"/>
    <p:sldLayoutId id="2147483672" r:id="rId31"/>
    <p:sldLayoutId id="2147483804" r:id="rId32"/>
    <p:sldLayoutId id="2147483696" r:id="rId33"/>
    <p:sldLayoutId id="2147483815" r:id="rId34"/>
    <p:sldLayoutId id="2147483816" r:id="rId35"/>
    <p:sldLayoutId id="2147483779" r:id="rId36"/>
    <p:sldLayoutId id="2147483826" r:id="rId37"/>
    <p:sldLayoutId id="2147483823" r:id="rId38"/>
    <p:sldLayoutId id="2147483821" r:id="rId39"/>
    <p:sldLayoutId id="2147483818" r:id="rId40"/>
    <p:sldLayoutId id="2147483820" r:id="rId41"/>
    <p:sldLayoutId id="2147483664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85" r:id="rId48"/>
    <p:sldLayoutId id="2147483730" r:id="rId4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8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0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D348-7CF8-BFED-47DF-3574973FE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anchor="b">
            <a:normAutofit/>
          </a:bodyPr>
          <a:lstStyle/>
          <a:p>
            <a:r>
              <a:rPr lang="en-US"/>
              <a:t>🧩 7️⃣ Esercizi Pratici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1DFB-B269-FDB9-383F-F784C0095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anchor="ctr">
            <a:normAutofit/>
          </a:bodyPr>
          <a:lstStyle/>
          <a:p>
            <a:r>
              <a:rPr lang="en-US"/>
              <a:t>Apprendimento interattivo per migliorare le competenze SQL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8BCEF-A191-5BA2-F123-ACDEE921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581912" y="1682496"/>
            <a:ext cx="3557016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it"/>
              <a:t>Esempio testo a piè di pagina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1348A-F305-72DE-DA61-F63E45B9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2008" y="6455664"/>
            <a:ext cx="4672584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EBE64-21E0-FDFD-BDCF-2A0D4F83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304" y="6455664"/>
            <a:ext cx="548640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8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999C-A9BF-68F8-43A1-3C84D54C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/>
          <a:p>
            <a:r>
              <a:rPr lang="en-US"/>
              <a:t>Esercizi SQL con immagini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4A831-5D84-DF05-A6FD-0F7E8287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581912" y="1682496"/>
            <a:ext cx="3557016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it"/>
              <a:t>Esempio testo a piè di pagina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51196-5F7A-D442-998A-42109277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2008" y="6455664"/>
            <a:ext cx="4672584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5D0A9-22A1-B150-97D3-EBDFD0DC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304" y="6455664"/>
            <a:ext cx="548640" cy="3657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54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08D7-0F9D-5B4D-BE23-673C6B3A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Trova gli studenti con voto superiore alla media del corso</a:t>
            </a:r>
          </a:p>
        </p:txBody>
      </p:sp>
      <p:pic>
        <p:nvPicPr>
          <p:cNvPr id="7" name="Content Placeholder 6" descr="Ragazzino che presenta il grafico">
            <a:extLst>
              <a:ext uri="{FF2B5EF4-FFF2-40B4-BE49-F238E27FC236}">
                <a16:creationId xmlns:a16="http://schemas.microsoft.com/office/drawing/2014/main" id="{201E9AC3-DD33-40F5-9293-199592652E5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424" r="34172" b="-2"/>
          <a:stretch>
            <a:fillRect/>
          </a:stretch>
        </p:blipFill>
        <p:spPr>
          <a:xfrm>
            <a:off x="20" y="-1"/>
            <a:ext cx="6281908" cy="6411311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74B392-27D8-4005-8330-2B102B4DDFD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86600" y="2633472"/>
            <a:ext cx="4498848" cy="298094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+mj-lt"/>
              <a:buNone/>
            </a:pPr>
            <a:r>
              <a:rPr lang="en-US" sz="1200" b="1"/>
              <a:t>Uso della funzione AVG()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</a:pPr>
            <a:r>
              <a:rPr lang="en-US" sz="1200"/>
              <a:t>La funzione AVG() calcola la media dei voti per ogni corso, essenziale per il confronto dei risultati individuali.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+mj-lt"/>
              <a:buNone/>
            </a:pPr>
            <a:r>
              <a:rPr lang="en-US" sz="1200" b="1"/>
              <a:t>Subquery correlate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</a:pPr>
            <a:r>
              <a:rPr lang="en-US" sz="1200"/>
              <a:t>Le subquery correlate permettono di confrontare ogni voto con la media calcolata nella stessa tabella riga per riga.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+mj-lt"/>
              <a:buNone/>
            </a:pPr>
            <a:r>
              <a:rPr lang="en-US" sz="1200" b="1"/>
              <a:t>Clausole WHERE e GROUP BY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</a:pPr>
            <a:r>
              <a:rPr lang="en-US" sz="1200"/>
              <a:t>Le clausole WHERE e GROUP BY sono fondamentali per filtrare e raggruppare i dati in modo efficace durante l'analisi.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BD224-6B63-7E7A-FFD6-64CAE5CBF57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" b="1" kern="1200">
                <a:latin typeface="+mj-lt"/>
                <a:ea typeface="+mn-ea"/>
                <a:cs typeface="+mn-cs"/>
              </a:rPr>
              <a:t>Esempio di testo a piè di pagina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8377B-C9DA-A430-0101-71DE4D5722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22008" y="6455664"/>
            <a:ext cx="4672584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300" baseline="0">
                <a:latin typeface="+mn-lt"/>
                <a:ea typeface="+mn-ea"/>
                <a:cs typeface="+mn-cs"/>
              </a:rPr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DBDBE-7E34-C253-B035-129950439F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304" y="6455664"/>
            <a:ext cx="54864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379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782E-8994-3BBC-8A7C-C2EA5514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/>
          <a:p>
            <a:r>
              <a:rPr lang="en-US"/>
              <a:t>Mostra corsi con più di 5 iscrizioni e media ≥ 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4630C-F7A6-42B8-8E45-FC0EA7AB06E5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94513" y="776036"/>
            <a:ext cx="5866854" cy="54681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Condizioni chiave dell'esercizio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Identificare corsi con più di 5 iscritti e media voti maggiore o uguale a 27.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Uso delle funzioni COUNT e AVG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COUNT() conta le iscrizioni, AVG() calcola la media dei voti per ogni corso.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Clausola HAVING per filtrare gruppi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HAVING filtra i risultati dopo GROUP BY, applicando condizioni sui gruppi aggregati.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Importanza dell'esercizio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Aiuta a capire come combinare filtri su dati aggregati in query leggibili e complesse.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E9729-72EE-9731-D7BA-660B7D3B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"/>
              <a:t>Esempio di testo a piè di pagina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A19CA-A7CA-0CFC-B669-1405862B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2008" y="6455664"/>
            <a:ext cx="4672584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300" baseline="0">
                <a:latin typeface="+mn-lt"/>
                <a:ea typeface="+mn-ea"/>
                <a:cs typeface="+mn-cs"/>
              </a:rPr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1953B-5E5D-408B-E966-7B2DC27B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304" y="6455664"/>
            <a:ext cx="54864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7" name="Content Placeholder 6" descr="Auditorium dell'Università con gli studenti e il professore durante l'esame">
            <a:extLst>
              <a:ext uri="{FF2B5EF4-FFF2-40B4-BE49-F238E27FC236}">
                <a16:creationId xmlns:a16="http://schemas.microsoft.com/office/drawing/2014/main" id="{E48C18B6-1E65-4EEB-9EFA-C8AF0086B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9256" r="9127" b="1"/>
          <a:stretch>
            <a:fillRect/>
          </a:stretch>
        </p:blipFill>
        <p:spPr>
          <a:xfrm>
            <a:off x="137159" y="776036"/>
            <a:ext cx="5866854" cy="5468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78699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DA74-0604-C266-312E-2C40B15D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/>
              <a:t>Crea colonna 'Promosso/Respinto' in base al voto ≥ 18</a:t>
            </a:r>
          </a:p>
        </p:txBody>
      </p:sp>
      <p:pic>
        <p:nvPicPr>
          <p:cNvPr id="7" name="Content Placeholder 6" descr="Spunta">
            <a:extLst>
              <a:ext uri="{FF2B5EF4-FFF2-40B4-BE49-F238E27FC236}">
                <a16:creationId xmlns:a16="http://schemas.microsoft.com/office/drawing/2014/main" id="{7A81EDF6-E789-4533-8081-F2420C060A9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tretch/>
        </p:blipFill>
        <p:spPr>
          <a:xfrm>
            <a:off x="0" y="286655"/>
            <a:ext cx="7783999" cy="583799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1FA7D-160D-8D5C-2E36-B6BD22B0DA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"/>
              <a:t>Esempio di testo a piè di pagina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E47D9-6256-4C00-A419-0D276A07AA14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2852928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900" b="1"/>
              <a:t>Colonna calcolata con CASE WHEN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/>
              <a:t>La clausola CASE WHEN permette di creare condizioni logiche e aggiungere colonne calcolate nelle query SQL.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900" b="1"/>
              <a:t>Definizione criterio promozione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/>
              <a:t>Uno studente è promosso se il voto è maggiore o uguale a 18, altrimenti è respinto.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900" b="1"/>
              <a:t>Risultati visuali chiari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/>
              <a:t>L'uso di icone come segni di spunta verdi e croci rosse rende immediatamente evidente lo stato di promozione o bocciatura.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21AD2-2C02-3BD3-4DFA-9218802A812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22008" y="6455664"/>
            <a:ext cx="4672584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300" baseline="0">
                <a:latin typeface="+mn-lt"/>
                <a:ea typeface="+mn-ea"/>
                <a:cs typeface="+mn-cs"/>
              </a:rPr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C259C-7211-C361-8AB7-7027F466F5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304" y="6455664"/>
            <a:ext cx="54864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790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05BA-3B69-D96D-4AB1-B5D909C4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/>
              <a:t>Elenca corsi con 'Data' nel nome e almeno un voto massimo di 30</a:t>
            </a:r>
          </a:p>
        </p:txBody>
      </p:sp>
      <p:pic>
        <p:nvPicPr>
          <p:cNvPr id="7" name="Content Placeholder 6" descr="Mini trofeo d'oro sulla pila superiore di libri">
            <a:extLst>
              <a:ext uri="{FF2B5EF4-FFF2-40B4-BE49-F238E27FC236}">
                <a16:creationId xmlns:a16="http://schemas.microsoft.com/office/drawing/2014/main" id="{378BAF81-A808-42EC-8644-0E98A34A13D6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18959" r="-2" b="-2"/>
          <a:stretch>
            <a:fillRect/>
          </a:stretch>
        </p:blipFill>
        <p:spPr>
          <a:xfrm>
            <a:off x="20" y="-1"/>
            <a:ext cx="7783979" cy="6411311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045E4-3B85-EBE1-F4A3-41262CF6D8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"/>
              <a:t>Esempio di testo a piè di pagina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61C69-8C08-4BA3-827C-A209330C07D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2852928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000" b="1"/>
              <a:t>Filtraggio con LIKE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/>
              <a:t>La clausola LIKE consente di selezionare corsi il cui nome contiene 'Data', filtrando efficacemente i risultati.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000" b="1"/>
              <a:t>Identificazione voto massimo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/>
              <a:t>La funzione MAX() individua il voto più alto ottenuto in ciascun corso, permettendo analisi precise.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n-US" sz="1000" b="1"/>
              <a:t>Uso di subquery o HAVING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/>
              <a:t>Subquery o clausola HAVING assicurano che siano mostrati solo corsi con voto massimo almeno 30.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8D3C0-04EE-C5DE-3EEB-86545B0FFC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22008" y="6455664"/>
            <a:ext cx="4672584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300" baseline="0">
                <a:latin typeface="+mn-lt"/>
                <a:ea typeface="+mn-ea"/>
                <a:cs typeface="+mn-cs"/>
              </a:rPr>
              <a:t>Giovedì 20 febbraio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7A309-9604-45E3-2161-02E60D0015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6304" y="6455664"/>
            <a:ext cx="54864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3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Aumento sfumatura">
  <a:themeElements>
    <a:clrScheme name="Gradient 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B4D63BEF6CE74A98DE71B79A4EFA2E" ma:contentTypeVersion="39" ma:contentTypeDescription="Create a new document." ma:contentTypeScope="" ma:versionID="7cd33766ae37bc020c6feee22e439f0a">
  <xsd:schema xmlns:xsd="http://www.w3.org/2001/XMLSchema" xmlns:xs="http://www.w3.org/2001/XMLSchema" xmlns:p="http://schemas.microsoft.com/office/2006/metadata/properties" xmlns:ns1="http://schemas.microsoft.com/sharepoint/v3" xmlns:ns2="324d2b90-11f2-4fdf-990a-54fa46247cf8" xmlns:ns3="b817b00b-f121-400f-976b-40959b1c7d14" targetNamespace="http://schemas.microsoft.com/office/2006/metadata/properties" ma:root="true" ma:fieldsID="660e4b43d8eb9c1b699934af2b892cbb" ns1:_="" ns2:_="" ns3:_="">
    <xsd:import namespace="http://schemas.microsoft.com/sharepoint/v3"/>
    <xsd:import namespace="324d2b90-11f2-4fdf-990a-54fa46247cf8"/>
    <xsd:import namespace="b817b00b-f121-400f-976b-40959b1c7d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SessionID" minOccurs="0"/>
                <xsd:element ref="ns2:ThemeID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d2b90-11f2-4fdf-990a-54fa46247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essionID" ma:index="16" nillable="true" ma:displayName="Session ID" ma:format="Dropdown" ma:internalName="SessionID">
      <xsd:simpleType>
        <xsd:restriction base="dms:Text">
          <xsd:maxLength value="255"/>
        </xsd:restriction>
      </xsd:simpleType>
    </xsd:element>
    <xsd:element name="ThemeID" ma:index="17" nillable="true" ma:displayName="ThemeID" ma:format="Dropdown" ma:internalName="ThemeID">
      <xsd:simpleType>
        <xsd:restriction base="dms:Text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17b00b-f121-400f-976b-40959b1c7d1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7dac1a7-ed5b-4681-ab90-166fc923ebde}" ma:internalName="TaxCatchAll" ma:showField="CatchAllData" ma:web="b817b00b-f121-400f-976b-40959b1c7d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324d2b90-11f2-4fdf-990a-54fa46247cf8">
      <Terms xmlns="http://schemas.microsoft.com/office/infopath/2007/PartnerControls"/>
    </lcf76f155ced4ddcb4097134ff3c332f>
    <ThemeID xmlns="324d2b90-11f2-4fdf-990a-54fa46247cf8" xsi:nil="true"/>
    <_ip_UnifiedCompliancePolicyProperties xmlns="http://schemas.microsoft.com/sharepoint/v3" xsi:nil="true"/>
    <TaxCatchAll xmlns="b817b00b-f121-400f-976b-40959b1c7d14" xsi:nil="true"/>
    <SessionID xmlns="324d2b90-11f2-4fdf-990a-54fa46247cf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5AB0A2-D6D6-49FA-89AE-DF389ABD742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324d2b90-11f2-4fdf-990a-54fa46247cf8"/>
    <ds:schemaRef ds:uri="b817b00b-f121-400f-976b-40959b1c7d14"/>
  </ds:schemaRefs>
</ds:datastoreItem>
</file>

<file path=customXml/itemProps2.xml><?xml version="1.0" encoding="utf-8"?>
<ds:datastoreItem xmlns:ds="http://schemas.openxmlformats.org/officeDocument/2006/customXml" ds:itemID="{4AE781AB-CE4C-4031-B2DA-50130A0B726F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324d2b90-11f2-4fdf-990a-54fa46247cf8"/>
    <ds:schemaRef ds:uri="http://schemas.microsoft.com/office/infopath/2007/PartnerControls"/>
    <ds:schemaRef ds:uri="b817b00b-f121-400f-976b-40959b1c7d14"/>
  </ds:schemaRefs>
</ds:datastoreItem>
</file>

<file path=customXml/itemProps3.xml><?xml version="1.0" encoding="utf-8"?>
<ds:datastoreItem xmlns:ds="http://schemas.openxmlformats.org/officeDocument/2006/customXml" ds:itemID="{D37EC8C6-DF33-44AC-AB03-10F60CC0DE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 Rise</Template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Aumento sfumatura</vt:lpstr>
      <vt:lpstr>🧩 7️⃣ Esercizi Pratici SQL</vt:lpstr>
      <vt:lpstr>Esercizi SQL con immagini</vt:lpstr>
      <vt:lpstr>Trova gli studenti con voto superiore alla media del corso</vt:lpstr>
      <vt:lpstr>Mostra corsi con più di 5 iscrizioni e media ≥ 27</vt:lpstr>
      <vt:lpstr>Crea colonna 'Promosso/Respinto' in base al voto ≥ 18</vt:lpstr>
      <vt:lpstr>Elenca corsi con 'Data' nel nome e almeno un voto massimo di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🧩 7️⃣ Esercizi Pratici SQL</dc:title>
  <dc:creator>David Salaguinto</dc:creator>
  <cp:lastModifiedBy>salisou moussa</cp:lastModifiedBy>
  <cp:revision>1</cp:revision>
  <dcterms:created xsi:type="dcterms:W3CDTF">2025-02-20T22:26:14Z</dcterms:created>
  <dcterms:modified xsi:type="dcterms:W3CDTF">2025-11-13T13:12:03Z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0x010100CAB4D63BEF6CE74A98DE71B79A4EFA2E</vt:lpwstr>
  </property>
  <property fmtid="{D5CDD505-2E9C-101B-9397-08002B2CF9AE}" pid="3" name="MediaServiceImageTags">
    <vt:lpwstr/>
  </property>
</Properties>
</file>